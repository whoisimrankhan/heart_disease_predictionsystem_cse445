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40-854F-AFF3-F4CEEAC7E88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E40-854F-AFF3-F4CEEAC7E88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E40-854F-AFF3-F4CEEAC7E88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E40-854F-AFF3-F4CEEAC7E885}"/>
              </c:ext>
            </c:extLst>
          </c:dPt>
          <c:dPt>
            <c:idx val="4"/>
            <c:invertIfNegative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E40-854F-AFF3-F4CEEAC7E885}"/>
              </c:ext>
            </c:extLst>
          </c:dPt>
          <c:dPt>
            <c:idx val="5"/>
            <c:invertIfNegative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E40-854F-AFF3-F4CEEAC7E885}"/>
              </c:ext>
            </c:extLst>
          </c:dPt>
          <c:dPt>
            <c:idx val="6"/>
            <c:invertIfNegative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E40-854F-AFF3-F4CEEAC7E885}"/>
              </c:ext>
            </c:extLst>
          </c:dPt>
          <c:dPt>
            <c:idx val="7"/>
            <c:invertIfNegative val="0"/>
            <c:bubble3D val="0"/>
            <c:spPr>
              <a:solidFill>
                <a:srgbClr val="1C2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E40-854F-AFF3-F4CEEAC7E88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XGBoost</c:v>
                </c:pt>
                <c:pt idx="1">
                  <c:v>Random
Forest</c:v>
                </c:pt>
                <c:pt idx="2">
                  <c:v>SVM
(ML)</c:v>
                </c:pt>
                <c:pt idx="3">
                  <c:v>Log.
Reg.</c:v>
                </c:pt>
                <c:pt idx="4">
                  <c:v>SVM +
TF-IDF</c:v>
                </c:pt>
                <c:pt idx="5">
                  <c:v>MLP +
BoW</c:v>
                </c:pt>
                <c:pt idx="6">
                  <c:v>MLP +
TF-IDF</c:v>
                </c:pt>
                <c:pt idx="7">
                  <c:v>DistilBERT
Fusion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92.4</c:v>
                </c:pt>
                <c:pt idx="1">
                  <c:v>92.9</c:v>
                </c:pt>
                <c:pt idx="2">
                  <c:v>87.8</c:v>
                </c:pt>
                <c:pt idx="3">
                  <c:v>84</c:v>
                </c:pt>
                <c:pt idx="4">
                  <c:v>84</c:v>
                </c:pt>
                <c:pt idx="5">
                  <c:v>83.6</c:v>
                </c:pt>
                <c:pt idx="6">
                  <c:v>81.5</c:v>
                </c:pt>
                <c:pt idx="7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E40-854F-AFF3-F4CEEAC7E8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13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822960"/>
            <a:ext cx="7132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EHR Data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Heart Disease Prediction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Classical ML · NLP · Transformer Fusion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310128"/>
            <a:ext cx="41148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45643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B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Heart Disease Dataset  ·  1,190 Patient Records  ·  3 Modeling Paradigms</a:t>
            </a: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31142E-3CAB-31C5-EFCB-8BA5040A7CA5}"/>
              </a:ext>
            </a:extLst>
          </p:cNvPr>
          <p:cNvSpPr txBox="1"/>
          <p:nvPr/>
        </p:nvSpPr>
        <p:spPr>
          <a:xfrm>
            <a:off x="698810" y="4021574"/>
            <a:ext cx="3612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Imran Khan - 1610434642</a:t>
            </a:r>
          </a:p>
          <a:p>
            <a:r>
              <a:rPr lang="en-US" b="1" dirty="0" err="1">
                <a:solidFill>
                  <a:schemeClr val="bg1"/>
                </a:solidFill>
              </a:rPr>
              <a:t>Nowrin</a:t>
            </a:r>
            <a:r>
              <a:rPr lang="en-US" b="1" dirty="0">
                <a:solidFill>
                  <a:schemeClr val="bg1"/>
                </a:solidFill>
              </a:rPr>
              <a:t> Sultana Shirin - 1711271042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95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  PROJECT TOPIC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20240" y="2468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BFC7"/>
                </a:solidFill>
              </a:rPr>
              <a:t>What is this project about?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977640" cy="3520440"/>
          </a:xfrm>
          <a:prstGeom prst="rect">
            <a:avLst/>
          </a:prstGeom>
          <a:solidFill>
            <a:srgbClr val="F4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109728" cy="3520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789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481328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EHRs contain two types of data: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measurements, lab results, categorical codes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Unstructured: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 &amp; narratives with rich context
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kills 17.9 million people/year (WHO).
Early, accurate prediction saves lives.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960120"/>
            <a:ext cx="4343400" cy="3520440"/>
          </a:xfrm>
          <a:prstGeom prst="rect">
            <a:avLst/>
          </a:prstGeom>
          <a:solidFill>
            <a:srgbClr val="DCF0F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960120"/>
            <a:ext cx="109728" cy="3520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36592" y="150876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736592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93792" y="14904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EHR Data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93792" y="17190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clinical features per patient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6592" y="251460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736592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93792" y="249631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Transformation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93792" y="272491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converts records to clinical narratives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6592" y="352044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93792" y="350215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Comparison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93792" y="37307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 vs  NLP  vs  Transformer Fusion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95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  OBJECTIVES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20240" y="2468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BFC7"/>
                </a:solidFill>
              </a:rPr>
              <a:t>What did we find out or achieve?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4206240" cy="1691640"/>
          </a:xfrm>
          <a:prstGeom prst="rect">
            <a:avLst/>
          </a:prstGeom>
          <a:solidFill>
            <a:srgbClr val="F4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32688"/>
            <a:ext cx="109728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" y="111556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097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951"/>
                </a:solidFill>
              </a:rPr>
              <a:t>Novel Data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149961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Built an LLM-assisted pipeline (GPT-4o) that transforms structured EHR records into validated free-text clinical narratives with 100% information integrity.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6592" y="932688"/>
            <a:ext cx="4206240" cy="1691640"/>
          </a:xfrm>
          <a:prstGeom prst="rect">
            <a:avLst/>
          </a:prstGeom>
          <a:solidFill>
            <a:srgbClr val="F4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932688"/>
            <a:ext cx="109728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11556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76672" y="1097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951"/>
                </a:solidFill>
              </a:rPr>
              <a:t>Comprehensive Benchmarking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49961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Compared Classical ML, traditional NLP, and Transformer Fusion models head-to-head — the first such comparison on EHR-generated free text.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852928"/>
            <a:ext cx="4206240" cy="1691640"/>
          </a:xfrm>
          <a:prstGeom prst="rect">
            <a:avLst/>
          </a:prstGeom>
          <a:solidFill>
            <a:srgbClr val="F4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52928"/>
            <a:ext cx="109728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521208" y="303580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0175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951"/>
                </a:solidFill>
              </a:rPr>
              <a:t>Rigorous Validation Framework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" y="341985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Designed a two-step reverse-engineering validation loop verifying that all 11 clinical features are extractable from generated text (100% field coverage).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36592" y="2852928"/>
            <a:ext cx="4206240" cy="1691640"/>
          </a:xfrm>
          <a:prstGeom prst="rect">
            <a:avLst/>
          </a:prstGeom>
          <a:solidFill>
            <a:srgbClr val="F4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2852928"/>
            <a:ext cx="109728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303580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76672" y="30175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951"/>
                </a:solidFill>
              </a:rPr>
              <a:t>Practical Insights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41985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XGBoost on structured data achieved 92.4% accuracy. NLP on transformed text reached 84% — proving EHR-to-text transformation is viable for medical NLP.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95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 RELATED WORK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20240" y="2468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BFC7"/>
                </a:solidFill>
              </a:rPr>
              <a:t>Prior work, and how this project differs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8503920" cy="877824"/>
          </a:xfrm>
          <a:prstGeom prst="rect">
            <a:avLst/>
          </a:prstGeom>
          <a:solidFill>
            <a:srgbClr val="F4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32688"/>
            <a:ext cx="91440" cy="8778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951"/>
                </a:solidFill>
              </a:rPr>
              <a:t>Detrano et al. (1989)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52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What: </a:t>
            </a:r>
            <a:r>
              <a:rPr lang="en-US" sz="950" dirty="0">
                <a:solidFill>
                  <a:srgbClr val="1E293B"/>
                </a:solidFill>
              </a:rPr>
              <a:t>Original Cleveland Heart Disease Dataset published in the UCI ML Repository — the benchmark dataset used in this study.   </a:t>
            </a:r>
            <a:r>
              <a:rPr lang="en-US" sz="950" b="1" dirty="0">
                <a:solidFill>
                  <a:srgbClr val="028090"/>
                </a:solidFill>
              </a:rPr>
              <a:t>Our difference: </a:t>
            </a:r>
            <a:r>
              <a:rPr lang="en-US" sz="950" dirty="0">
                <a:solidFill>
                  <a:srgbClr val="475569"/>
                </a:solidFill>
              </a:rPr>
              <a:t>We extend it by adding Hungary data (1,190 records) and generating free-text narratives for NLP evaluation.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8503920" cy="877824"/>
          </a:xfrm>
          <a:prstGeom prst="rect">
            <a:avLst/>
          </a:prstGeom>
          <a:solidFill>
            <a:srgbClr val="DCF0F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38528"/>
            <a:ext cx="91440" cy="87782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11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951"/>
                </a:solidFill>
              </a:rPr>
              <a:t>Johnson et al. — ClinicalBERT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2585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What: </a:t>
            </a:r>
            <a:r>
              <a:rPr lang="en-US" sz="950" dirty="0">
                <a:solidFill>
                  <a:srgbClr val="1E293B"/>
                </a:solidFill>
              </a:rPr>
              <a:t>Applied BERT-style transformers to real clinical notes in MIMIC-III for medical NLP tasks.   </a:t>
            </a:r>
            <a:r>
              <a:rPr lang="en-US" sz="950" b="1" dirty="0">
                <a:solidFill>
                  <a:srgbClr val="028090"/>
                </a:solidFill>
              </a:rPr>
              <a:t>Our difference: </a:t>
            </a:r>
            <a:r>
              <a:rPr lang="en-US" sz="950" dirty="0">
                <a:solidFill>
                  <a:srgbClr val="475569"/>
                </a:solidFill>
              </a:rPr>
              <a:t>Our work differs: we synthesize clinical text from structured data rather than using pre-existing physician notes.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44368"/>
            <a:ext cx="8503920" cy="877824"/>
          </a:xfrm>
          <a:prstGeom prst="rect">
            <a:avLst/>
          </a:prstGeom>
          <a:solidFill>
            <a:srgbClr val="F4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44368"/>
            <a:ext cx="91440" cy="8778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951"/>
                </a:solidFill>
              </a:rPr>
              <a:t>Rajpurkar et al. — CheXNet (2017)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2644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What: </a:t>
            </a:r>
            <a:r>
              <a:rPr lang="en-US" sz="950" dirty="0">
                <a:solidFill>
                  <a:srgbClr val="1E293B"/>
                </a:solidFill>
              </a:rPr>
              <a:t>Demonstrated deep learning superiority over physicians on radiology tasks; inspired multimodal fusion approaches.   </a:t>
            </a:r>
            <a:r>
              <a:rPr lang="en-US" sz="950" b="1" dirty="0">
                <a:solidFill>
                  <a:srgbClr val="028090"/>
                </a:solidFill>
              </a:rPr>
              <a:t>Our difference: </a:t>
            </a:r>
            <a:r>
              <a:rPr lang="en-US" sz="950" dirty="0">
                <a:solidFill>
                  <a:srgbClr val="475569"/>
                </a:solidFill>
              </a:rPr>
              <a:t>We apply fusion at the feature level (DistilBERT + structured branch) rather than image-level fusion.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950208"/>
            <a:ext cx="8503920" cy="877824"/>
          </a:xfrm>
          <a:prstGeom prst="rect">
            <a:avLst/>
          </a:prstGeom>
          <a:solidFill>
            <a:srgbClr val="DCF0F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950208"/>
            <a:ext cx="91440" cy="87782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951"/>
                </a:solidFill>
              </a:rPr>
              <a:t>Boag et al. — NLP for EHR (2018)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7024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What: </a:t>
            </a:r>
            <a:r>
              <a:rPr lang="en-US" sz="950" dirty="0">
                <a:solidFill>
                  <a:srgbClr val="1E293B"/>
                </a:solidFill>
              </a:rPr>
              <a:t>Systematically compared classical NLP methods (TF-IDF, BoW) against deep learning on clinical text classification.   </a:t>
            </a:r>
            <a:r>
              <a:rPr lang="en-US" sz="950" b="1" dirty="0">
                <a:solidFill>
                  <a:srgbClr val="028090"/>
                </a:solidFill>
              </a:rPr>
              <a:t>Our difference: </a:t>
            </a:r>
            <a:r>
              <a:rPr lang="en-US" sz="950" dirty="0">
                <a:solidFill>
                  <a:srgbClr val="475569"/>
                </a:solidFill>
              </a:rPr>
              <a:t>We replicate this comparison but on LLM-generated text rather than original physician notes.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95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  METHODS  (1/2)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20240" y="2468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BFC7"/>
                </a:solidFill>
              </a:rPr>
              <a:t>Dataset &amp; EHR-to-Text Transformation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834640" cy="3657600"/>
          </a:xfrm>
          <a:prstGeom prst="rect">
            <a:avLst/>
          </a:prstGeom>
          <a:solidFill>
            <a:srgbClr val="F4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109728" cy="3657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005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951"/>
                </a:solidFill>
              </a:rPr>
              <a:t>Dataset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389888"/>
            <a:ext cx="2423160" cy="475488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4356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Source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63040" y="14356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UCI ML Repository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1956816"/>
            <a:ext cx="24231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00253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Records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63040" y="200253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1,190 patients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523744"/>
            <a:ext cx="2423160" cy="475488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5694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Features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63040" y="256946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11 clinical attributes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090672"/>
            <a:ext cx="24231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313639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Task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63040" y="31363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Binary classification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2423160" cy="475488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70332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Split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63040" y="37033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70% train / 15% val / 15% test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914400"/>
            <a:ext cx="5468112" cy="3657600"/>
          </a:xfrm>
          <a:prstGeom prst="rect">
            <a:avLst/>
          </a:prstGeom>
          <a:solidFill>
            <a:srgbClr val="F4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914400"/>
            <a:ext cx="109728" cy="3657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3593592" y="1005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951"/>
                </a:solidFill>
              </a:rPr>
              <a:t>Transformation Pipeline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593592" y="1426464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3593592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86784" y="13990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951"/>
                </a:solidFill>
              </a:rPr>
              <a:t>Structured EHR Data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986784" y="16093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Heart_Disease.csv — 11 features, 1,190 records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39896" y="1719072"/>
            <a:ext cx="0" cy="292608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593592" y="204825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3593592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86784" y="202082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951"/>
                </a:solidFill>
              </a:rPr>
              <a:t>GPT-4o LLM Transformation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986784" y="223113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Feature-to-text mapping with medical terminology (temp=0)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39896" y="2340864"/>
            <a:ext cx="0" cy="292608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593592" y="26700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3593592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986784" y="2642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951"/>
                </a:solidFill>
              </a:rPr>
              <a:t>Forward Validation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986784" y="28529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Azure GPT-4 checks for missing fields &amp; contradictions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39896" y="2962656"/>
            <a:ext cx="0" cy="292608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593592" y="329184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41"/>
          <p:cNvSpPr/>
          <p:nvPr/>
        </p:nvSpPr>
        <p:spPr>
          <a:xfrm>
            <a:off x="359359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86784" y="32644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951"/>
                </a:solidFill>
              </a:rPr>
              <a:t>Reverse Engineering Check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986784" y="34747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LLM extracts 11 values back from text — must match 100%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39896" y="3584448"/>
            <a:ext cx="0" cy="292608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593592" y="3913632"/>
            <a:ext cx="292608" cy="292608"/>
          </a:xfrm>
          <a:prstGeom prst="ellipse">
            <a:avLst/>
          </a:prstGeom>
          <a:solidFill>
            <a:srgbClr val="1C2951"/>
          </a:solidFill>
          <a:ln/>
        </p:spPr>
      </p:sp>
      <p:sp>
        <p:nvSpPr>
          <p:cNvPr id="48" name="Text 46"/>
          <p:cNvSpPr/>
          <p:nvPr/>
        </p:nvSpPr>
        <p:spPr>
          <a:xfrm>
            <a:off x="3593592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986784" y="38862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951"/>
                </a:solidFill>
              </a:rPr>
              <a:t>Validated Clinical Narratives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986784" y="40965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heart_disease_freetext_final.csv — ready for NLP models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95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  METHODS  (2/2)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20240" y="2468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BFC7"/>
                </a:solidFill>
              </a:rPr>
              <a:t>Three experimental paradigms compared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43200" cy="3657600"/>
          </a:xfrm>
          <a:prstGeom prst="rect">
            <a:avLst/>
          </a:prstGeom>
          <a:solidFill>
            <a:srgbClr val="F4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743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969264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969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9784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Classical ML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129844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Structured Numerical Data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15727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951"/>
                </a:solidFill>
              </a:rPr>
              <a:t>Models: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" y="1810512"/>
            <a:ext cx="2468880" cy="329184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18105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Logistic Regression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" y="2194560"/>
            <a:ext cx="2468880" cy="329184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219456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Random Forest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" y="2578608"/>
            <a:ext cx="2468880" cy="329184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257860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SVM (RBF kernel)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" y="2962656"/>
            <a:ext cx="2468880" cy="329184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296265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XGBoost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4198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475569"/>
                </a:solidFill>
              </a:rPr>
              <a:t>Preprocessing: StandardScaler + GridSearchCV (5-fold CV)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46120" y="914400"/>
            <a:ext cx="2743200" cy="3657600"/>
          </a:xfrm>
          <a:prstGeom prst="rect">
            <a:avLst/>
          </a:prstGeom>
          <a:solidFill>
            <a:srgbClr val="F4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914400"/>
            <a:ext cx="2743200" cy="38404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4" name="Shape 22"/>
          <p:cNvSpPr/>
          <p:nvPr/>
        </p:nvSpPr>
        <p:spPr>
          <a:xfrm>
            <a:off x="3337560" y="969264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969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85032" y="9784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Traditional NLP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37560" y="129844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Free-Text Clinical Narratives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10712" y="15727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951"/>
                </a:solidFill>
              </a:rPr>
              <a:t>Models: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10712" y="1810512"/>
            <a:ext cx="2468880" cy="329184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30" name="Text 28"/>
          <p:cNvSpPr/>
          <p:nvPr/>
        </p:nvSpPr>
        <p:spPr>
          <a:xfrm>
            <a:off x="3502152" y="18105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SVM + TF-IDF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10712" y="2194560"/>
            <a:ext cx="2468880" cy="329184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32" name="Text 30"/>
          <p:cNvSpPr/>
          <p:nvPr/>
        </p:nvSpPr>
        <p:spPr>
          <a:xfrm>
            <a:off x="3502152" y="219456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SVM + Bag-of-Words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10712" y="2578608"/>
            <a:ext cx="2468880" cy="329184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34" name="Text 32"/>
          <p:cNvSpPr/>
          <p:nvPr/>
        </p:nvSpPr>
        <p:spPr>
          <a:xfrm>
            <a:off x="3502152" y="257860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MLP + TF-IDF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10712" y="2962656"/>
            <a:ext cx="2468880" cy="329184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36" name="Text 34"/>
          <p:cNvSpPr/>
          <p:nvPr/>
        </p:nvSpPr>
        <p:spPr>
          <a:xfrm>
            <a:off x="3502152" y="296265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MLP + BoW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37560" y="34198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475569"/>
                </a:solidFill>
              </a:rPr>
              <a:t>Text prep: tokenization, stopword removal, lowercasing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72200" y="914400"/>
            <a:ext cx="2743200" cy="3657600"/>
          </a:xfrm>
          <a:prstGeom prst="rect">
            <a:avLst/>
          </a:prstGeom>
          <a:solidFill>
            <a:srgbClr val="F4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914400"/>
            <a:ext cx="2743200" cy="384048"/>
          </a:xfrm>
          <a:prstGeom prst="rect">
            <a:avLst/>
          </a:prstGeom>
          <a:solidFill>
            <a:srgbClr val="1C2951"/>
          </a:solidFill>
          <a:ln/>
        </p:spPr>
      </p:sp>
      <p:sp>
        <p:nvSpPr>
          <p:cNvPr id="40" name="Shape 38"/>
          <p:cNvSpPr/>
          <p:nvPr/>
        </p:nvSpPr>
        <p:spPr>
          <a:xfrm>
            <a:off x="6263640" y="969264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969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11112" y="9784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Transformer Fusion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263640" y="129844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Hybrid Text + Structured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36792" y="15727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951"/>
                </a:solidFill>
              </a:rPr>
              <a:t>Models: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36792" y="1810512"/>
            <a:ext cx="2468880" cy="329184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46" name="Text 44"/>
          <p:cNvSpPr/>
          <p:nvPr/>
        </p:nvSpPr>
        <p:spPr>
          <a:xfrm>
            <a:off x="6428232" y="18105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DistilBERT (text branch)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36792" y="2194560"/>
            <a:ext cx="2468880" cy="329184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48" name="Text 46"/>
          <p:cNvSpPr/>
          <p:nvPr/>
        </p:nvSpPr>
        <p:spPr>
          <a:xfrm>
            <a:off x="6428232" y="219456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Dense NN (structured branch)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36792" y="2578608"/>
            <a:ext cx="2468880" cy="329184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50" name="Text 48"/>
          <p:cNvSpPr/>
          <p:nvPr/>
        </p:nvSpPr>
        <p:spPr>
          <a:xfrm>
            <a:off x="6428232" y="257860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Late fusion: concat → Dense(256) → Dense(128) → Softmax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63640" y="30358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475569"/>
                </a:solidFill>
              </a:rPr>
              <a:t>Optimizer: AdamW  ·  LR: 2e-5  ·  Epochs: 5 with early stopping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1C2951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Evaluation Metrics (all models):   Accuracy  ·  Precision  ·  Recall  ·  F1-Score  ·  ROC-AUC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95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 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20240" y="2468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BFC7"/>
                </a:solidFill>
              </a:rPr>
              <a:t>Model performance comparison across all three paradigms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6868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868680"/>
            <a:ext cx="2834640" cy="3749040"/>
          </a:xfrm>
          <a:prstGeom prst="rect">
            <a:avLst/>
          </a:prstGeom>
          <a:solidFill>
            <a:srgbClr val="F4F9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868680"/>
            <a:ext cx="109728" cy="3749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6236208" y="960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951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36208" y="1353312"/>
            <a:ext cx="2468880" cy="530352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11" name="Text 8"/>
          <p:cNvSpPr/>
          <p:nvPr/>
        </p:nvSpPr>
        <p:spPr>
          <a:xfrm>
            <a:off x="6309360" y="13990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🥇 XGBoost: 92.4% accuracy — best overall with strong ROC-AUC of 96.5%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36208" y="1975104"/>
            <a:ext cx="24688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202082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📊 Random Forest: 92.9% test accuracy but shows overfitting (100% train acc)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6208" y="2596896"/>
            <a:ext cx="2468880" cy="530352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264261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💬 NLP models reach 84% — text transformation preserves predictive value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36208" y="3218688"/>
            <a:ext cx="24688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32644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🔗 Fusion model balances both modalities with ~88% estimated accuracy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236208" y="3840480"/>
            <a:ext cx="2468880" cy="530352"/>
          </a:xfrm>
          <a:prstGeom prst="rect">
            <a:avLst/>
          </a:prstGeom>
          <a:solidFill>
            <a:srgbClr val="DCF0F2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3886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📉 8.4% performance gap between best ML and best NLP — manageable tradeoff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0040" y="4681728"/>
            <a:ext cx="256032" cy="12801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" y="46634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Classical ML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920240" y="4681728"/>
            <a:ext cx="256032" cy="12801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3" name="Text 20"/>
          <p:cNvSpPr/>
          <p:nvPr/>
        </p:nvSpPr>
        <p:spPr>
          <a:xfrm>
            <a:off x="2221992" y="46634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Traditional NLP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566160" y="4681728"/>
            <a:ext cx="256032" cy="128016"/>
          </a:xfrm>
          <a:prstGeom prst="rect">
            <a:avLst/>
          </a:prstGeom>
          <a:solidFill>
            <a:srgbClr val="1C2951"/>
          </a:solidFill>
          <a:ln/>
        </p:spPr>
      </p:sp>
      <p:sp>
        <p:nvSpPr>
          <p:cNvPr id="25" name="Text 22"/>
          <p:cNvSpPr/>
          <p:nvPr/>
        </p:nvSpPr>
        <p:spPr>
          <a:xfrm>
            <a:off x="3867912" y="466344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Transformer Fusion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951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  RESULTS  (2/2)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20240" y="2468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BFC7"/>
                </a:solidFill>
              </a:rPr>
              <a:t>Full comparison table with F1-Score and ROC-AUC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96112"/>
          <a:ext cx="8138160" cy="345643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9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(ML)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+ TF-IDF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+ BoW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+ TF-IDF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+ BoW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solidFill>
            <a:srgbClr val="DCF0F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46634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951"/>
                </a:solidFill>
              </a:rPr>
              <a:t>💡  Takeaway: Classical ML excels on structured data (XGBoost 92.4%), while NLP on LLM-generated text (84%) validates the EHR-to-text pipeline as a viable alternative.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952</Words>
  <Application>Microsoft Macintosh PowerPoint</Application>
  <PresentationFormat>On-screen Show (16:9)</PresentationFormat>
  <Paragraphs>187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- EHR to NLP</dc:title>
  <dc:subject>PptxGenJS Presentation</dc:subject>
  <dc:creator>PptxGenJS</dc:creator>
  <cp:lastModifiedBy>Imran Khan</cp:lastModifiedBy>
  <cp:revision>2</cp:revision>
  <dcterms:created xsi:type="dcterms:W3CDTF">2026-05-03T16:01:15Z</dcterms:created>
  <dcterms:modified xsi:type="dcterms:W3CDTF">2026-05-03T16:08:31Z</dcterms:modified>
</cp:coreProperties>
</file>